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C8E0"/>
                </a:solidFill>
                <a:latin typeface="Consolas"/>
                <a:ea typeface="Consolas"/>
              </a:rPr>
              <a:t>INTERNSHIP DEFENSE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972800" cy="11887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F5F8FF"/>
                </a:solidFill>
                <a:latin typeface="Microsoft YaHei"/>
                <a:ea typeface="Microsoft YaHei"/>
              </a:rPr>
              <a:t>固定收益部 · 数据库性能优化实践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9728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CBD5E5"/>
                </a:solidFill>
                <a:latin typeface="Consolas"/>
                <a:ea typeface="Consolas"/>
              </a:rPr>
              <a:t>Fixed Income · Database Performance Optimization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4023360"/>
            <a:ext cx="5212080" cy="0"/>
          </a:xfrm>
          <a:prstGeom prst="line">
            <a:avLst/>
          </a:prstGeom>
          <a:ln w="25400">
            <a:solidFill>
              <a:srgbClr val="00C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297680"/>
            <a:ext cx="109728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 b="1">
                <a:solidFill>
                  <a:srgbClr val="F5F8FF"/>
                </a:solidFill>
                <a:latin typeface="Microsoft YaHei"/>
                <a:ea typeface="Microsoft YaHei"/>
              </a:rPr>
              <a:t>汇报人：李颜铭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指导部门：固定收益部 · 风控与数据团队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学校：武汉大学 · 计算机学院 · 软件工程 2028 届</a:t>
            </a:r>
          </a:p>
          <a:p>
            <a:pPr algn="l">
              <a:lnSpc>
                <a:spcPct val="135000"/>
              </a:lnSpc>
            </a:pP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实习时间：2026-07-08 ~ 2026-07-28（3 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37960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Consolas"/>
                <a:ea typeface="Consolas"/>
              </a:rPr>
              <a:t>V 2.0  ·  PPT for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Microsoft YaHei"/>
                <a:ea typeface="Microsoft YaHei"/>
              </a:rPr>
              <a:t>固定收益部 · 数据库性能优化实践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1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C8E0"/>
                </a:solidFill>
                <a:latin typeface="Consolas"/>
                <a:ea typeface="Consolas"/>
              </a:rPr>
              <a:t>PART 01  ·  PAGE 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00C8E0"/>
                </a:solidFill>
                <a:latin typeface="Microsoft YaHei"/>
                <a:ea typeface="Microsoft YaHei"/>
              </a:rPr>
              <a:t>PART 1 / 5  ·  16 P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8A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658368"/>
            <a:ext cx="365760" cy="36576"/>
          </a:xfrm>
          <a:prstGeom prst="rect">
            <a:avLst/>
          </a:prstGeom>
          <a:solidFill>
            <a:srgbClr val="00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5F8FF"/>
                </a:solidFill>
                <a:latin typeface="Microsoft YaHei"/>
                <a:ea typeface="Microsoft YaHei"/>
              </a:rPr>
              <a:t>课题背景与目标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1627632"/>
            <a:ext cx="1463040" cy="0"/>
          </a:xfrm>
          <a:prstGeom prst="line">
            <a:avLst/>
          </a:prstGeom>
          <a:ln w="38100">
            <a:solidFill>
              <a:srgbClr val="00C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874519"/>
            <a:ext cx="109728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2200" b="0">
                <a:solidFill>
                  <a:srgbClr val="F5F8FF"/>
                </a:solidFill>
                <a:latin typeface="Microsoft YaHei"/>
                <a:ea typeface="Microsoft YaHei"/>
              </a:rPr>
              <a:t>固定收益部结算链路长期受数据库性能瓶颈制约，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CBD5E5"/>
                </a:solidFill>
                <a:latin typeface="Microsoft YaHei"/>
                <a:ea typeface="Microsoft YaHei"/>
              </a:rPr>
              <a:t>本次实习以可量化的性能指标为锚点，完成核心过程的优化与上线验证。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54679"/>
            <a:ext cx="5349240" cy="3108960"/>
          </a:xfrm>
          <a:prstGeom prst="rect">
            <a:avLst/>
          </a:prstGeom>
          <a:solidFill>
            <a:srgbClr val="142240"/>
          </a:solidFill>
          <a:ln w="12700">
            <a:solidFill>
              <a:srgbClr val="00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91839"/>
            <a:ext cx="4983479" cy="2926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2200" b="1">
                <a:solidFill>
                  <a:srgbClr val="00C8E0"/>
                </a:solidFill>
                <a:latin typeface="Microsoft YaHei"/>
                <a:ea typeface="Microsoft YaHei"/>
              </a:rPr>
              <a:t>课题 · 三件事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800" b="1">
                <a:solidFill>
                  <a:srgbClr val="00C8E0"/>
                </a:solidFill>
                <a:latin typeface="Microsoft YaHei"/>
                <a:ea typeface="Microsoft YaHei"/>
              </a:rPr>
              <a:t>▍  </a:t>
            </a:r>
            <a:r>
              <a:rPr sz="2000" b="1">
                <a:solidFill>
                  <a:srgbClr val="F5F8FF"/>
                </a:solidFill>
                <a:latin typeface="Microsoft YaHei"/>
                <a:ea typeface="Microsoft YaHei"/>
              </a:rPr>
              <a:t>压测基线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覆盖核心结算链路，刻画优化前后的真实差距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800" b="1">
                <a:solidFill>
                  <a:srgbClr val="00C8E0"/>
                </a:solidFill>
                <a:latin typeface="Microsoft YaHei"/>
                <a:ea typeface="Microsoft YaHei"/>
              </a:rPr>
              <a:t>▍  </a:t>
            </a:r>
            <a:r>
              <a:rPr sz="2000" b="1">
                <a:solidFill>
                  <a:srgbClr val="F5F8FF"/>
                </a:solidFill>
                <a:latin typeface="Microsoft YaHei"/>
                <a:ea typeface="Microsoft YaHei"/>
              </a:rPr>
              <a:t>数据对账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账务结果零漂移，是优化上线的硬门槛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00C8E0"/>
                </a:solidFill>
                <a:latin typeface="Microsoft YaHei"/>
                <a:ea typeface="Microsoft YaHei"/>
              </a:rPr>
              <a:t>▍  </a:t>
            </a:r>
            <a:r>
              <a:rPr sz="2000" b="1">
                <a:solidFill>
                  <a:srgbClr val="F5F8FF"/>
                </a:solidFill>
                <a:latin typeface="Microsoft YaHei"/>
                <a:ea typeface="Microsoft YaHei"/>
              </a:rPr>
              <a:t>监控能力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把一次性脚本沉淀为可持续观察的指标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3154679"/>
            <a:ext cx="5349240" cy="3108960"/>
          </a:xfrm>
          <a:prstGeom prst="rect">
            <a:avLst/>
          </a:prstGeom>
          <a:solidFill>
            <a:srgbClr val="142240"/>
          </a:solidFill>
          <a:ln w="12700">
            <a:solidFill>
              <a:srgbClr val="00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291839"/>
            <a:ext cx="4983479" cy="2926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2200" b="1">
                <a:solidFill>
                  <a:srgbClr val="00C8E0"/>
                </a:solidFill>
                <a:latin typeface="Microsoft YaHei"/>
                <a:ea typeface="Microsoft YaHei"/>
              </a:rPr>
              <a:t>目标 · 三个数字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800" b="1">
                <a:solidFill>
                  <a:srgbClr val="00C8E0"/>
                </a:solidFill>
                <a:latin typeface="Microsoft YaHei"/>
                <a:ea typeface="Microsoft YaHei"/>
              </a:rPr>
              <a:t>▍  </a:t>
            </a:r>
            <a:r>
              <a:rPr sz="1900" b="0">
                <a:solidFill>
                  <a:srgbClr val="CBD5E5"/>
                </a:solidFill>
                <a:latin typeface="Microsoft YaHei"/>
                <a:ea typeface="Microsoft YaHei"/>
              </a:rPr>
              <a:t>核心 P95 耗时显著下降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800" b="1">
                <a:solidFill>
                  <a:srgbClr val="00C8E0"/>
                </a:solidFill>
                <a:latin typeface="Microsoft YaHei"/>
                <a:ea typeface="Microsoft YaHei"/>
              </a:rPr>
              <a:t>▍  </a:t>
            </a:r>
            <a:r>
              <a:rPr sz="1900" b="0">
                <a:solidFill>
                  <a:srgbClr val="CBD5E5"/>
                </a:solidFill>
                <a:latin typeface="Microsoft YaHei"/>
                <a:ea typeface="Microsoft YaHei"/>
              </a:rPr>
              <a:t>账务数据零漂移可证明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00C8E0"/>
                </a:solidFill>
                <a:latin typeface="Microsoft YaHei"/>
                <a:ea typeface="Microsoft YaHei"/>
              </a:rPr>
              <a:t>▍  </a:t>
            </a:r>
            <a:r>
              <a:rPr sz="1900" b="0">
                <a:solidFill>
                  <a:srgbClr val="CBD5E5"/>
                </a:solidFill>
                <a:latin typeface="Microsoft YaHei"/>
                <a:ea typeface="Microsoft YaHei"/>
              </a:rPr>
              <a:t>形成可复用的工程方法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Microsoft YaHei"/>
                <a:ea typeface="Microsoft YaHei"/>
              </a:rPr>
              <a:t>固定收益部 · 数据库性能优化实践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1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C8E0"/>
                </a:solidFill>
                <a:latin typeface="Consolas"/>
                <a:ea typeface="Consolas"/>
              </a:rPr>
              <a:t>PART 01  ·  PAGE 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00C8E0"/>
                </a:solidFill>
                <a:latin typeface="Microsoft YaHei"/>
                <a:ea typeface="Microsoft YaHei"/>
              </a:rPr>
              <a:t>PART 1 / 5  ·  16 P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8A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658368"/>
            <a:ext cx="365760" cy="36576"/>
          </a:xfrm>
          <a:prstGeom prst="rect">
            <a:avLst/>
          </a:prstGeom>
          <a:solidFill>
            <a:srgbClr val="00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5F8FF"/>
                </a:solidFill>
                <a:latin typeface="Microsoft YaHei"/>
                <a:ea typeface="Microsoft YaHei"/>
              </a:rPr>
              <a:t>交付物与个人模块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1627632"/>
            <a:ext cx="1463040" cy="0"/>
          </a:xfrm>
          <a:prstGeom prst="line">
            <a:avLst/>
          </a:prstGeom>
          <a:ln w="38100">
            <a:solidFill>
              <a:srgbClr val="00C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20" y="1874519"/>
            <a:ext cx="3520440" cy="1554480"/>
          </a:xfrm>
          <a:prstGeom prst="rect">
            <a:avLst/>
          </a:prstGeom>
          <a:solidFill>
            <a:srgbClr val="142240"/>
          </a:solidFill>
          <a:ln w="15240">
            <a:solidFill>
              <a:srgbClr val="00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74519"/>
            <a:ext cx="73152" cy="1554480"/>
          </a:xfrm>
          <a:prstGeom prst="rect">
            <a:avLst/>
          </a:prstGeom>
          <a:solidFill>
            <a:srgbClr val="00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84248"/>
            <a:ext cx="31546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200" b="1">
                <a:solidFill>
                  <a:srgbClr val="00C8E0"/>
                </a:solidFill>
                <a:latin typeface="Microsoft YaHei"/>
                <a:ea typeface="Microsoft YaHei"/>
              </a:rPr>
              <a:t>LEVERAGE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F5F8FF"/>
                </a:solidFill>
                <a:latin typeface="Microsoft YaHei"/>
                <a:ea typeface="Microsoft YaHei"/>
              </a:rPr>
              <a:t>并发压测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CBD5E5"/>
                </a:solidFill>
                <a:latin typeface="Microsoft YaHei"/>
                <a:ea typeface="Microsoft YaHei"/>
              </a:rPr>
              <a:t>建立阶梯压测基线，刻画核心链路并发行为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874519"/>
            <a:ext cx="3520440" cy="1554480"/>
          </a:xfrm>
          <a:prstGeom prst="rect">
            <a:avLst/>
          </a:prstGeom>
          <a:solidFill>
            <a:srgbClr val="142240"/>
          </a:solidFill>
          <a:ln w="15240">
            <a:solidFill>
              <a:srgbClr val="00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74519"/>
            <a:ext cx="73152" cy="1554480"/>
          </a:xfrm>
          <a:prstGeom prst="rect">
            <a:avLst/>
          </a:prstGeom>
          <a:solidFill>
            <a:srgbClr val="00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984248"/>
            <a:ext cx="31546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200" b="1">
                <a:solidFill>
                  <a:srgbClr val="00C8E0"/>
                </a:solidFill>
                <a:latin typeface="Microsoft YaHei"/>
                <a:ea typeface="Microsoft YaHei"/>
              </a:rPr>
              <a:t>D3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F5F8FF"/>
                </a:solidFill>
                <a:latin typeface="Microsoft YaHei"/>
                <a:ea typeface="Microsoft YaHei"/>
              </a:rPr>
              <a:t>数据核对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CBD5E5"/>
                </a:solidFill>
                <a:latin typeface="Microsoft YaHei"/>
                <a:ea typeface="Microsoft YaHei"/>
              </a:rPr>
              <a:t>账务数据零漂移核对，确保优化可上线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874519"/>
            <a:ext cx="3520440" cy="1554480"/>
          </a:xfrm>
          <a:prstGeom prst="rect">
            <a:avLst/>
          </a:prstGeom>
          <a:solidFill>
            <a:srgbClr val="142240"/>
          </a:solidFill>
          <a:ln w="15240">
            <a:solidFill>
              <a:srgbClr val="00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74519"/>
            <a:ext cx="73152" cy="1554480"/>
          </a:xfrm>
          <a:prstGeom prst="rect">
            <a:avLst/>
          </a:prstGeom>
          <a:solidFill>
            <a:srgbClr val="00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984248"/>
            <a:ext cx="315468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200" b="1">
                <a:solidFill>
                  <a:srgbClr val="00C8E0"/>
                </a:solidFill>
                <a:latin typeface="Microsoft YaHei"/>
                <a:ea typeface="Microsoft YaHei"/>
              </a:rPr>
              <a:t>Dashboard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F5F8FF"/>
                </a:solidFill>
                <a:latin typeface="Microsoft YaHei"/>
                <a:ea typeface="Microsoft YaHei"/>
              </a:rPr>
              <a:t>指标看板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CBD5E5"/>
                </a:solidFill>
                <a:latin typeface="Microsoft YaHei"/>
                <a:ea typeface="Microsoft YaHei"/>
              </a:rPr>
              <a:t>把零散结果汇总为可持续观察的指标视图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03320"/>
            <a:ext cx="10972800" cy="2468880"/>
          </a:xfrm>
          <a:prstGeom prst="rect">
            <a:avLst/>
          </a:prstGeom>
          <a:solidFill>
            <a:srgbClr val="142240"/>
          </a:solidFill>
          <a:ln w="12700">
            <a:solidFill>
              <a:srgbClr val="00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40480"/>
            <a:ext cx="1060704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1">
                <a:solidFill>
                  <a:srgbClr val="00C8E0"/>
                </a:solidFill>
                <a:latin typeface="Microsoft YaHei"/>
                <a:ea typeface="Microsoft YaHei"/>
              </a:rPr>
              <a:t>我负责的模块</a:t>
            </a: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800" b="1">
                <a:solidFill>
                  <a:srgbClr val="00C8E0"/>
                </a:solidFill>
                <a:latin typeface="Microsoft YaHei"/>
                <a:ea typeface="Microsoft YaHei"/>
              </a:rPr>
              <a:t>▍  </a:t>
            </a:r>
            <a:r>
              <a:rPr sz="2000" b="1">
                <a:solidFill>
                  <a:srgbClr val="F5F8FF"/>
                </a:solidFill>
                <a:latin typeface="Microsoft YaHei"/>
                <a:ea typeface="Microsoft YaHei"/>
              </a:rPr>
              <a:t>LEVERAGE 压测基线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— 端到端脚本 + 跨档位执行 + 报表产出</a:t>
            </a: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800" b="1">
                <a:solidFill>
                  <a:srgbClr val="00C8E0"/>
                </a:solidFill>
                <a:latin typeface="Microsoft YaHei"/>
                <a:ea typeface="Microsoft YaHei"/>
              </a:rPr>
              <a:t>▍  </a:t>
            </a:r>
            <a:r>
              <a:rPr sz="2000" b="1">
                <a:solidFill>
                  <a:srgbClr val="F5F8FF"/>
                </a:solidFill>
                <a:latin typeface="Microsoft YaHei"/>
                <a:ea typeface="Microsoft YaHei"/>
              </a:rPr>
              <a:t>D3 数据核对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— 多源对账 + 差异定位 + 一致性结论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00C8E0"/>
                </a:solidFill>
                <a:latin typeface="Microsoft YaHei"/>
                <a:ea typeface="Microsoft YaHei"/>
              </a:rPr>
              <a:t>▍  </a:t>
            </a:r>
            <a:r>
              <a:rPr sz="2000" b="1">
                <a:solidFill>
                  <a:srgbClr val="F5F8FF"/>
                </a:solidFill>
                <a:latin typeface="Microsoft YaHei"/>
                <a:ea typeface="Microsoft YaHei"/>
              </a:rPr>
              <a:t>指标看板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— 把脚本产出转化为团队可读的指标视图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Microsoft YaHei"/>
                <a:ea typeface="Microsoft YaHei"/>
              </a:rPr>
              <a:t>固定收益部 · 数据库性能优化实践 ·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2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90D85A"/>
                </a:solidFill>
                <a:latin typeface="Microsoft YaHei"/>
                <a:ea typeface="Microsoft YaHei"/>
              </a:rPr>
              <a:t>PART 2 / 5  ·  16 P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8A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658368"/>
            <a:ext cx="731520" cy="36576"/>
          </a:xfrm>
          <a:prstGeom prst="rect">
            <a:avLst/>
          </a:prstGeom>
          <a:solidFill>
            <a:srgbClr val="90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90D85A"/>
                </a:solidFill>
                <a:latin typeface="Consolas"/>
                <a:ea typeface="Consolas"/>
              </a:rPr>
              <a:t>PART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97280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>
                <a:solidFill>
                  <a:srgbClr val="F5F8FF"/>
                </a:solidFill>
                <a:latin typeface="Microsoft YaHei"/>
                <a:ea typeface="Microsoft YaHei"/>
              </a:rPr>
              <a:t>工作参与形式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BD5E5"/>
                </a:solidFill>
                <a:latin typeface="Consolas"/>
                <a:ea typeface="Consolas"/>
              </a:rPr>
              <a:t>Work Participation  ·  团队结构 · 个人角色 · 核心产出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663440"/>
            <a:ext cx="2926080" cy="0"/>
          </a:xfrm>
          <a:prstGeom prst="line">
            <a:avLst/>
          </a:prstGeom>
          <a:ln w="38100">
            <a:solidFill>
              <a:srgbClr val="90D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Microsoft YaHei"/>
                <a:ea typeface="Microsoft YaHei"/>
              </a:rPr>
              <a:t>固定收益部 · 数据库性能优化实践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2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90D85A"/>
                </a:solidFill>
                <a:latin typeface="Consolas"/>
                <a:ea typeface="Consolas"/>
              </a:rPr>
              <a:t>PART 02  ·  PAGE 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90D85A"/>
                </a:solidFill>
                <a:latin typeface="Microsoft YaHei"/>
                <a:ea typeface="Microsoft YaHei"/>
              </a:rPr>
              <a:t>PART 2 / 5  ·  16 P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8A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658368"/>
            <a:ext cx="731520" cy="36576"/>
          </a:xfrm>
          <a:prstGeom prst="rect">
            <a:avLst/>
          </a:prstGeom>
          <a:solidFill>
            <a:srgbClr val="90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5F8FF"/>
                </a:solidFill>
                <a:latin typeface="Microsoft YaHei"/>
                <a:ea typeface="Microsoft YaHei"/>
              </a:rPr>
              <a:t>团队结构与个人角色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1627632"/>
            <a:ext cx="1463040" cy="0"/>
          </a:xfrm>
          <a:prstGeom prst="line">
            <a:avLst/>
          </a:prstGeom>
          <a:ln w="38100">
            <a:solidFill>
              <a:srgbClr val="90D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874519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2200" b="0">
                <a:solidFill>
                  <a:srgbClr val="F5F8FF"/>
                </a:solidFill>
                <a:latin typeface="Microsoft YaHei"/>
                <a:ea typeface="Microsoft YaHei"/>
              </a:rPr>
              <a:t>所在小组由导师、后端开发、DBA 与数据四个角色构成，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CBD5E5"/>
                </a:solidFill>
                <a:latin typeface="Microsoft YaHei"/>
                <a:ea typeface="Microsoft YaHei"/>
              </a:rPr>
              <a:t>我以实习生的身份独立承担压测与对账两条主线。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10972800" cy="1371600"/>
          </a:xfrm>
          <a:prstGeom prst="rect">
            <a:avLst/>
          </a:prstGeom>
          <a:solidFill>
            <a:srgbClr val="142240"/>
          </a:solidFill>
          <a:ln w="12700">
            <a:solidFill>
              <a:srgbClr val="90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26079"/>
            <a:ext cx="106070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800" b="1">
                <a:solidFill>
                  <a:srgbClr val="90D85A"/>
                </a:solidFill>
                <a:latin typeface="Microsoft YaHei"/>
                <a:ea typeface="Microsoft YaHei"/>
              </a:rPr>
              <a:t>▍  </a:t>
            </a:r>
            <a:r>
              <a:rPr sz="2000" b="1">
                <a:solidFill>
                  <a:srgbClr val="F5F8FF"/>
                </a:solidFill>
                <a:latin typeface="Microsoft YaHei"/>
                <a:ea typeface="Microsoft YaHei"/>
              </a:rPr>
              <a:t>团队构成  </a:t>
            </a:r>
            <a:r>
              <a:rPr sz="1900" b="0">
                <a:solidFill>
                  <a:srgbClr val="CBD5E5"/>
                </a:solidFill>
                <a:latin typeface="Microsoft YaHei"/>
                <a:ea typeface="Microsoft YaHei"/>
              </a:rPr>
              <a:t>导师  ·  后端  ·  DBA  ·  数据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90D85A"/>
                </a:solidFill>
                <a:latin typeface="Microsoft YaHei"/>
                <a:ea typeface="Microsoft YaHei"/>
              </a:rPr>
              <a:t>▍  </a:t>
            </a:r>
            <a:r>
              <a:rPr sz="2000" b="1">
                <a:solidFill>
                  <a:srgbClr val="F5F8FF"/>
                </a:solidFill>
                <a:latin typeface="Microsoft YaHei"/>
                <a:ea typeface="Microsoft YaHei"/>
              </a:rPr>
              <a:t>我的角色  </a:t>
            </a:r>
            <a:r>
              <a:rPr sz="1900" b="0">
                <a:solidFill>
                  <a:srgbClr val="CBD5E5"/>
                </a:solidFill>
                <a:latin typeface="Microsoft YaHei"/>
                <a:ea typeface="Microsoft YaHei"/>
              </a:rPr>
              <a:t>独立承担压测基线 + 数据对账两条主线，需求与上线由团队共同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43400"/>
            <a:ext cx="5349240" cy="1920240"/>
          </a:xfrm>
          <a:prstGeom prst="rect">
            <a:avLst/>
          </a:prstGeom>
          <a:solidFill>
            <a:srgbClr val="142240"/>
          </a:solidFill>
          <a:ln w="12700">
            <a:solidFill>
              <a:srgbClr val="90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983479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2200" b="1">
                <a:solidFill>
                  <a:srgbClr val="90D85A"/>
                </a:solidFill>
                <a:latin typeface="Microsoft YaHei"/>
                <a:ea typeface="Microsoft YaHei"/>
              </a:rPr>
              <a:t>我做的事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1">
                <a:solidFill>
                  <a:srgbClr val="90D85A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脚本编写、脚本运行、报告整理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1">
                <a:solidFill>
                  <a:srgbClr val="90D85A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对账方案设计、异常样本复核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1">
                <a:solidFill>
                  <a:srgbClr val="90D85A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把一次性的结果汇总为团队可读的指标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4343400"/>
            <a:ext cx="5349240" cy="1920240"/>
          </a:xfrm>
          <a:prstGeom prst="rect">
            <a:avLst/>
          </a:prstGeom>
          <a:solidFill>
            <a:srgbClr val="142240"/>
          </a:solidFill>
          <a:ln w="12700">
            <a:solidFill>
              <a:srgbClr val="90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480560"/>
            <a:ext cx="4983479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2200" b="1">
                <a:solidFill>
                  <a:srgbClr val="90D85A"/>
                </a:solidFill>
                <a:latin typeface="Microsoft YaHei"/>
                <a:ea typeface="Microsoft YaHei"/>
              </a:rPr>
              <a:t>上游给我的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1">
                <a:solidFill>
                  <a:srgbClr val="90D85A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需求背景  ·  数据范围  ·  上线节奏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1">
                <a:solidFill>
                  <a:srgbClr val="90D85A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测试环境  ·  必要的运维协助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1">
                <a:solidFill>
                  <a:srgbClr val="90D85A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关键样本与结论的最终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Microsoft YaHei"/>
                <a:ea typeface="Microsoft YaHei"/>
              </a:rPr>
              <a:t>固定收益部 · 数据库性能优化实践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2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90D85A"/>
                </a:solidFill>
                <a:latin typeface="Consolas"/>
                <a:ea typeface="Consolas"/>
              </a:rPr>
              <a:t>PART 02  ·  PAGE 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90D85A"/>
                </a:solidFill>
                <a:latin typeface="Microsoft YaHei"/>
                <a:ea typeface="Microsoft YaHei"/>
              </a:rPr>
              <a:t>PART 2 / 5  ·  16 P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8A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658368"/>
            <a:ext cx="731520" cy="36576"/>
          </a:xfrm>
          <a:prstGeom prst="rect">
            <a:avLst/>
          </a:prstGeom>
          <a:solidFill>
            <a:srgbClr val="90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5F8FF"/>
                </a:solidFill>
                <a:latin typeface="Microsoft YaHei"/>
                <a:ea typeface="Microsoft YaHei"/>
              </a:rPr>
              <a:t>协作流程与核心产出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1627632"/>
            <a:ext cx="1463040" cy="0"/>
          </a:xfrm>
          <a:prstGeom prst="line">
            <a:avLst/>
          </a:prstGeom>
          <a:ln w="38100">
            <a:solidFill>
              <a:srgbClr val="90D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68680" y="1874519"/>
            <a:ext cx="2468880" cy="1188720"/>
          </a:xfrm>
          <a:prstGeom prst="rect">
            <a:avLst/>
          </a:prstGeom>
          <a:solidFill>
            <a:srgbClr val="142240"/>
          </a:solidFill>
          <a:ln w="10160">
            <a:solidFill>
              <a:srgbClr val="90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79"/>
            <a:ext cx="2468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90D85A"/>
                </a:solidFill>
                <a:latin typeface="Consolas"/>
                <a:ea typeface="Consolas"/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39"/>
            <a:ext cx="24688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5F8FF"/>
                </a:solidFill>
                <a:latin typeface="Microsoft YaHei"/>
                <a:ea typeface="Microsoft YaHei"/>
              </a:rPr>
              <a:t>需求对齐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7" y="1874519"/>
            <a:ext cx="329184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90D85A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79" y="1874519"/>
            <a:ext cx="2468880" cy="1188720"/>
          </a:xfrm>
          <a:prstGeom prst="rect">
            <a:avLst/>
          </a:prstGeom>
          <a:solidFill>
            <a:srgbClr val="142240"/>
          </a:solidFill>
          <a:ln w="10160">
            <a:solidFill>
              <a:srgbClr val="90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2011679"/>
            <a:ext cx="2468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90D85A"/>
                </a:solidFill>
                <a:latin typeface="Consolas"/>
                <a:ea typeface="Consolas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79" y="2377439"/>
            <a:ext cx="24688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5F8FF"/>
                </a:solidFill>
                <a:latin typeface="Microsoft YaHei"/>
                <a:ea typeface="Microsoft YaHei"/>
              </a:rPr>
              <a:t>方案设计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328" y="1874519"/>
            <a:ext cx="329184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90D85A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874519"/>
            <a:ext cx="2468880" cy="1188720"/>
          </a:xfrm>
          <a:prstGeom prst="rect">
            <a:avLst/>
          </a:prstGeom>
          <a:solidFill>
            <a:srgbClr val="142240"/>
          </a:solidFill>
          <a:ln w="10160">
            <a:solidFill>
              <a:srgbClr val="90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011679"/>
            <a:ext cx="2468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90D85A"/>
                </a:solidFill>
                <a:latin typeface="Consolas"/>
                <a:ea typeface="Consolas"/>
              </a:rPr>
              <a:t>STEP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377439"/>
            <a:ext cx="24688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5F8FF"/>
                </a:solidFill>
                <a:latin typeface="Microsoft YaHei"/>
                <a:ea typeface="Microsoft YaHei"/>
              </a:rPr>
              <a:t>实施验证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1874519"/>
            <a:ext cx="329184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90D85A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874519"/>
            <a:ext cx="2468880" cy="1188720"/>
          </a:xfrm>
          <a:prstGeom prst="rect">
            <a:avLst/>
          </a:prstGeom>
          <a:solidFill>
            <a:srgbClr val="142240"/>
          </a:solidFill>
          <a:ln w="10160">
            <a:solidFill>
              <a:srgbClr val="90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011679"/>
            <a:ext cx="246888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90D85A"/>
                </a:solidFill>
                <a:latin typeface="Consolas"/>
                <a:ea typeface="Consolas"/>
              </a:rPr>
              <a:t>STEP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377439"/>
            <a:ext cx="24688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5F8FF"/>
                </a:solidFill>
                <a:latin typeface="Microsoft YaHei"/>
                <a:ea typeface="Microsoft YaHei"/>
              </a:rPr>
              <a:t>团队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429000"/>
            <a:ext cx="10972800" cy="2743200"/>
          </a:xfrm>
          <a:prstGeom prst="rect">
            <a:avLst/>
          </a:prstGeom>
          <a:solidFill>
            <a:srgbClr val="142240"/>
          </a:solidFill>
          <a:ln w="12700">
            <a:solidFill>
              <a:srgbClr val="90D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566160"/>
            <a:ext cx="1060704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1">
                <a:solidFill>
                  <a:srgbClr val="90D85A"/>
                </a:solidFill>
                <a:latin typeface="Microsoft YaHei"/>
                <a:ea typeface="Microsoft YaHei"/>
              </a:rPr>
              <a:t>我的核心产出</a:t>
            </a: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800" b="1">
                <a:solidFill>
                  <a:srgbClr val="90D85A"/>
                </a:solidFill>
                <a:latin typeface="Microsoft YaHei"/>
                <a:ea typeface="Microsoft YaHei"/>
              </a:rPr>
              <a:t>▍  </a:t>
            </a:r>
            <a:r>
              <a:rPr sz="2000" b="1">
                <a:solidFill>
                  <a:srgbClr val="F5F8FF"/>
                </a:solidFill>
                <a:latin typeface="Microsoft YaHei"/>
                <a:ea typeface="Microsoft YaHei"/>
              </a:rPr>
              <a:t>可复用的压测脚本与对账脚本  </a:t>
            </a:r>
            <a:r>
              <a:rPr sz="1900" b="0">
                <a:solidFill>
                  <a:srgbClr val="CBD5E5"/>
                </a:solidFill>
                <a:latin typeface="Microsoft YaHei"/>
                <a:ea typeface="Microsoft YaHei"/>
              </a:rPr>
              <a:t>不依赖我本人在场也能继续运行</a:t>
            </a: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800" b="1">
                <a:solidFill>
                  <a:srgbClr val="90D85A"/>
                </a:solidFill>
                <a:latin typeface="Microsoft YaHei"/>
                <a:ea typeface="Microsoft YaHei"/>
              </a:rPr>
              <a:t>▍  </a:t>
            </a:r>
            <a:r>
              <a:rPr sz="2000" b="1">
                <a:solidFill>
                  <a:srgbClr val="F5F8FF"/>
                </a:solidFill>
                <a:latin typeface="Microsoft YaHei"/>
                <a:ea typeface="Microsoft YaHei"/>
              </a:rPr>
              <a:t>可读的性能报告  </a:t>
            </a:r>
            <a:r>
              <a:rPr sz="1900" b="0">
                <a:solidFill>
                  <a:srgbClr val="CBD5E5"/>
                </a:solidFill>
                <a:latin typeface="Microsoft YaHei"/>
                <a:ea typeface="Microsoft YaHei"/>
              </a:rPr>
              <a:t>把数据 + 结论 + 边界写在同一份文档里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90D85A"/>
                </a:solidFill>
                <a:latin typeface="Microsoft YaHei"/>
                <a:ea typeface="Microsoft YaHei"/>
              </a:rPr>
              <a:t>▍  </a:t>
            </a:r>
            <a:r>
              <a:rPr sz="2000" b="1">
                <a:solidFill>
                  <a:srgbClr val="F5F8FF"/>
                </a:solidFill>
                <a:latin typeface="Microsoft YaHei"/>
                <a:ea typeface="Microsoft YaHei"/>
              </a:rPr>
              <a:t>可承接的工程方法  </a:t>
            </a:r>
            <a:r>
              <a:rPr sz="1900" b="0">
                <a:solidFill>
                  <a:srgbClr val="CBD5E5"/>
                </a:solidFill>
                <a:latin typeface="Microsoft YaHei"/>
                <a:ea typeface="Microsoft YaHei"/>
              </a:rPr>
              <a:t>在团队 review 后能直接被下一任接手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Microsoft YaHei"/>
                <a:ea typeface="Microsoft YaHei"/>
              </a:rPr>
              <a:t>固定收益部 · 数据库性能优化实践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3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F5A842"/>
                </a:solidFill>
                <a:latin typeface="Microsoft YaHei"/>
                <a:ea typeface="Microsoft YaHei"/>
              </a:rPr>
              <a:t>PART 3 / 5  ·  16 P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8A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658368"/>
            <a:ext cx="1097280" cy="36576"/>
          </a:xfrm>
          <a:prstGeom prst="rect">
            <a:avLst/>
          </a:prstGeom>
          <a:solidFill>
            <a:srgbClr val="F5A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5A842"/>
                </a:solidFill>
                <a:latin typeface="Consolas"/>
                <a:ea typeface="Consolas"/>
              </a:rPr>
              <a:t>PART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97280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>
                <a:solidFill>
                  <a:srgbClr val="F5F8FF"/>
                </a:solidFill>
                <a:latin typeface="Microsoft YaHei"/>
                <a:ea typeface="Microsoft YaHei"/>
              </a:rPr>
              <a:t>技术难点及解决措施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BD5E5"/>
                </a:solidFill>
                <a:latin typeface="Consolas"/>
                <a:ea typeface="Consolas"/>
              </a:rPr>
              <a:t>Technical Challenges  ·  排查思路 · 解决路径 · 落地结果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663440"/>
            <a:ext cx="2926080" cy="0"/>
          </a:xfrm>
          <a:prstGeom prst="line">
            <a:avLst/>
          </a:prstGeom>
          <a:ln w="38100">
            <a:solidFill>
              <a:srgbClr val="F5A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Microsoft YaHei"/>
                <a:ea typeface="Microsoft YaHei"/>
              </a:rPr>
              <a:t>固定收益部 · 数据库性能优化实践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3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5A842"/>
                </a:solidFill>
                <a:latin typeface="Consolas"/>
                <a:ea typeface="Consolas"/>
              </a:rPr>
              <a:t>PART 03  ·  PAGE 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F5A842"/>
                </a:solidFill>
                <a:latin typeface="Microsoft YaHei"/>
                <a:ea typeface="Microsoft YaHei"/>
              </a:rPr>
              <a:t>PART 3 / 5  ·  16 P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8A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658368"/>
            <a:ext cx="1097280" cy="36576"/>
          </a:xfrm>
          <a:prstGeom prst="rect">
            <a:avLst/>
          </a:prstGeom>
          <a:solidFill>
            <a:srgbClr val="F5A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5F8FF"/>
                </a:solidFill>
                <a:latin typeface="Microsoft YaHei"/>
                <a:ea typeface="Microsoft YaHei"/>
              </a:rPr>
              <a:t>难点一 · 并发压测场景的设计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1627632"/>
            <a:ext cx="1463040" cy="0"/>
          </a:xfrm>
          <a:prstGeom prst="line">
            <a:avLst/>
          </a:prstGeom>
          <a:ln w="38100">
            <a:solidFill>
              <a:srgbClr val="F5A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874519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2200" b="0">
                <a:solidFill>
                  <a:srgbClr val="F5F8FF"/>
                </a:solidFill>
                <a:latin typeface="Microsoft YaHei"/>
                <a:ea typeface="Microsoft YaHei"/>
              </a:rPr>
              <a:t>从单点压测到全链路压测，需要回答：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CBD5E5"/>
                </a:solidFill>
                <a:latin typeface="Microsoft YaHei"/>
                <a:ea typeface="Microsoft YaHei"/>
              </a:rPr>
              <a:t>“线上真实负载下，瓶颈到底在哪里？”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5349240" cy="3474720"/>
          </a:xfrm>
          <a:prstGeom prst="rect">
            <a:avLst/>
          </a:prstGeom>
          <a:solidFill>
            <a:srgbClr val="142240"/>
          </a:solidFill>
          <a:ln w="12700">
            <a:solidFill>
              <a:srgbClr val="F5A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26079"/>
            <a:ext cx="4983479" cy="3291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1">
                <a:solidFill>
                  <a:srgbClr val="F5A842"/>
                </a:solidFill>
                <a:latin typeface="Microsoft YaHei"/>
                <a:ea typeface="Microsoft YaHei"/>
              </a:rPr>
              <a:t>排查思路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A842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从单接口压测开始，先找局部最弱点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A842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逐步叠加链路节点，定位耦合处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A842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用真实数据分布替代均匀造数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F5A842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以 P95 而非平均值刻画真实表现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788920"/>
            <a:ext cx="5349240" cy="3474720"/>
          </a:xfrm>
          <a:prstGeom prst="rect">
            <a:avLst/>
          </a:prstGeom>
          <a:solidFill>
            <a:srgbClr val="142240"/>
          </a:solidFill>
          <a:ln w="12700">
            <a:solidFill>
              <a:srgbClr val="F5A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79"/>
            <a:ext cx="4983479" cy="3291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1">
                <a:solidFill>
                  <a:srgbClr val="F5A842"/>
                </a:solidFill>
                <a:latin typeface="Microsoft YaHei"/>
                <a:ea typeface="Microsoft YaHei"/>
              </a:rPr>
              <a:t>落地结果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A842"/>
                </a:solidFill>
                <a:latin typeface="Microsoft YaHei"/>
                <a:ea typeface="Microsoft YaHei"/>
              </a:rPr>
              <a:t>▍  </a:t>
            </a:r>
            <a:r>
              <a:rPr sz="1900" b="1">
                <a:solidFill>
                  <a:srgbClr val="F5F8FF"/>
                </a:solidFill>
                <a:latin typeface="Microsoft YaHei"/>
                <a:ea typeface="Microsoft YaHei"/>
              </a:rPr>
              <a:t>建立可复用的阶梯压测基线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A842"/>
                </a:solidFill>
                <a:latin typeface="Microsoft YaHei"/>
                <a:ea typeface="Microsoft YaHei"/>
              </a:rPr>
              <a:t>▍  </a:t>
            </a:r>
            <a:r>
              <a:rPr sz="1900" b="1">
                <a:solidFill>
                  <a:srgbClr val="F5F8FF"/>
                </a:solidFill>
                <a:latin typeface="Microsoft YaHei"/>
                <a:ea typeface="Microsoft YaHei"/>
              </a:rPr>
              <a:t>在多档位下都能跑出稳定结论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F5A842"/>
                </a:solidFill>
                <a:latin typeface="Microsoft YaHei"/>
                <a:ea typeface="Microsoft YaHei"/>
              </a:rPr>
              <a:t>▍  </a:t>
            </a:r>
            <a:r>
              <a:rPr sz="1900" b="1">
                <a:solidFill>
                  <a:srgbClr val="F5F8FF"/>
                </a:solidFill>
                <a:latin typeface="Microsoft YaHei"/>
                <a:ea typeface="Microsoft YaHei"/>
              </a:rPr>
              <a:t>压测与对账结果进入看板，被团队复用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Microsoft YaHei"/>
                <a:ea typeface="Microsoft YaHei"/>
              </a:rPr>
              <a:t>固定收益部 · 数据库性能优化实践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3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5A842"/>
                </a:solidFill>
                <a:latin typeface="Consolas"/>
                <a:ea typeface="Consolas"/>
              </a:rPr>
              <a:t>PART 03  ·  PAGE 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F5A842"/>
                </a:solidFill>
                <a:latin typeface="Microsoft YaHei"/>
                <a:ea typeface="Microsoft YaHei"/>
              </a:rPr>
              <a:t>PART 3 / 5  ·  16 P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8A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658368"/>
            <a:ext cx="1097280" cy="36576"/>
          </a:xfrm>
          <a:prstGeom prst="rect">
            <a:avLst/>
          </a:prstGeom>
          <a:solidFill>
            <a:srgbClr val="F5A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5F8FF"/>
                </a:solidFill>
                <a:latin typeface="Microsoft YaHei"/>
                <a:ea typeface="Microsoft YaHei"/>
              </a:rPr>
              <a:t>难点二 · 数据一致性的核对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1627632"/>
            <a:ext cx="1463040" cy="0"/>
          </a:xfrm>
          <a:prstGeom prst="line">
            <a:avLst/>
          </a:prstGeom>
          <a:ln w="38100">
            <a:solidFill>
              <a:srgbClr val="F5A8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874519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2200" b="0">
                <a:solidFill>
                  <a:srgbClr val="F5F8FF"/>
                </a:solidFill>
                <a:latin typeface="Microsoft YaHei"/>
                <a:ea typeface="Microsoft YaHei"/>
              </a:rPr>
              <a:t>性能优化的硬门槛不是更快，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CBD5E5"/>
                </a:solidFill>
                <a:latin typeface="Microsoft YaHei"/>
                <a:ea typeface="Microsoft YaHei"/>
              </a:rPr>
              <a:t>而是账务结果不能出现任何漂移。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5349240" cy="3474720"/>
          </a:xfrm>
          <a:prstGeom prst="rect">
            <a:avLst/>
          </a:prstGeom>
          <a:solidFill>
            <a:srgbClr val="142240"/>
          </a:solidFill>
          <a:ln w="12700">
            <a:solidFill>
              <a:srgbClr val="F5A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26079"/>
            <a:ext cx="4983479" cy="3291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1">
                <a:solidFill>
                  <a:srgbClr val="F5A842"/>
                </a:solidFill>
                <a:latin typeface="Microsoft YaHei"/>
                <a:ea typeface="Microsoft YaHei"/>
              </a:rPr>
              <a:t>核对思路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A842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同一份真实输入跑优化前 / 后两套逻辑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A842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逐字段比较输出，差异立即定位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A842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对异常样本人工复核，不掩盖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F5A842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结果先于性能，结论写在文档里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788920"/>
            <a:ext cx="5349240" cy="3474720"/>
          </a:xfrm>
          <a:prstGeom prst="rect">
            <a:avLst/>
          </a:prstGeom>
          <a:solidFill>
            <a:srgbClr val="142240"/>
          </a:solidFill>
          <a:ln w="12700">
            <a:solidFill>
              <a:srgbClr val="F5A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79"/>
            <a:ext cx="4983479" cy="3291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1">
                <a:solidFill>
                  <a:srgbClr val="F5A842"/>
                </a:solidFill>
                <a:latin typeface="Microsoft YaHei"/>
                <a:ea typeface="Microsoft YaHei"/>
              </a:rPr>
              <a:t>通用化沉淀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A842"/>
                </a:solidFill>
                <a:latin typeface="Microsoft YaHei"/>
                <a:ea typeface="Microsoft YaHei"/>
              </a:rPr>
              <a:t>▍  </a:t>
            </a:r>
            <a:r>
              <a:rPr sz="1900" b="1">
                <a:solidFill>
                  <a:srgbClr val="F5F8FF"/>
                </a:solidFill>
                <a:latin typeface="Microsoft YaHei"/>
                <a:ea typeface="Microsoft YaHei"/>
              </a:rPr>
              <a:t>把一次性的脚本沉淀为可复用机制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A842"/>
                </a:solidFill>
                <a:latin typeface="Microsoft YaHei"/>
                <a:ea typeface="Microsoft YaHei"/>
              </a:rPr>
              <a:t>▍  </a:t>
            </a:r>
            <a:r>
              <a:rPr sz="1900" b="1">
                <a:solidFill>
                  <a:srgbClr val="F5F8FF"/>
                </a:solidFill>
                <a:latin typeface="Microsoft YaHei"/>
                <a:ea typeface="Microsoft YaHei"/>
              </a:rPr>
              <a:t>降低下次同类优化的边际成本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F5A842"/>
                </a:solidFill>
                <a:latin typeface="Microsoft YaHei"/>
                <a:ea typeface="Microsoft YaHei"/>
              </a:rPr>
              <a:t>▍  </a:t>
            </a:r>
            <a:r>
              <a:rPr sz="1900" b="1">
                <a:solidFill>
                  <a:srgbClr val="F5F8FF"/>
                </a:solidFill>
                <a:latin typeface="Microsoft YaHei"/>
                <a:ea typeface="Microsoft YaHei"/>
              </a:rPr>
              <a:t>形成团队可读、可 review 的工程产出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Microsoft YaHei"/>
                <a:ea typeface="Microsoft YaHei"/>
              </a:rPr>
              <a:t>固定收益部 · 数据库性能优化实践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4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C482E8"/>
                </a:solidFill>
                <a:latin typeface="Microsoft YaHei"/>
                <a:ea typeface="Microsoft YaHei"/>
              </a:rPr>
              <a:t>PART 4 / 5  ·  16 P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8A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658368"/>
            <a:ext cx="1463040" cy="36576"/>
          </a:xfrm>
          <a:prstGeom prst="rect">
            <a:avLst/>
          </a:prstGeom>
          <a:solidFill>
            <a:srgbClr val="C48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C482E8"/>
                </a:solidFill>
                <a:latin typeface="Consolas"/>
                <a:ea typeface="Consolas"/>
              </a:rPr>
              <a:t>PART 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97280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>
                <a:solidFill>
                  <a:srgbClr val="F5F8FF"/>
                </a:solidFill>
                <a:latin typeface="Microsoft YaHei"/>
                <a:ea typeface="Microsoft YaHei"/>
              </a:rPr>
              <a:t>AI 工具使用说明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BD5E5"/>
                </a:solidFill>
                <a:latin typeface="Consolas"/>
                <a:ea typeface="Consolas"/>
              </a:rPr>
              <a:t>AI Tool Usage  ·  真实场景 · 使用边界 · 体感复盘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663440"/>
            <a:ext cx="2926080" cy="0"/>
          </a:xfrm>
          <a:prstGeom prst="line">
            <a:avLst/>
          </a:prstGeom>
          <a:ln w="38100">
            <a:solidFill>
              <a:srgbClr val="C48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Microsoft YaHei"/>
                <a:ea typeface="Microsoft YaHei"/>
              </a:rPr>
              <a:t>固定收益部 · 数据库性能优化实践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4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482E8"/>
                </a:solidFill>
                <a:latin typeface="Consolas"/>
                <a:ea typeface="Consolas"/>
              </a:rPr>
              <a:t>PART 04  ·  PAGE 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C482E8"/>
                </a:solidFill>
                <a:latin typeface="Microsoft YaHei"/>
                <a:ea typeface="Microsoft YaHei"/>
              </a:rPr>
              <a:t>PART 4 / 5  ·  16 P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8A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658368"/>
            <a:ext cx="1463040" cy="36576"/>
          </a:xfrm>
          <a:prstGeom prst="rect">
            <a:avLst/>
          </a:prstGeom>
          <a:solidFill>
            <a:srgbClr val="C48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5F8FF"/>
                </a:solidFill>
                <a:latin typeface="Microsoft YaHei"/>
                <a:ea typeface="Microsoft YaHei"/>
              </a:rPr>
              <a:t>我在哪些环节用 AI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1627632"/>
            <a:ext cx="1463040" cy="0"/>
          </a:xfrm>
          <a:prstGeom prst="line">
            <a:avLst/>
          </a:prstGeom>
          <a:ln w="38100">
            <a:solidFill>
              <a:srgbClr val="C48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874519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2200" b="0">
                <a:solidFill>
                  <a:srgbClr val="F5F8FF"/>
                </a:solidFill>
                <a:latin typeface="Microsoft YaHei"/>
                <a:ea typeface="Microsoft YaHei"/>
              </a:rPr>
              <a:t>AI 是效率放大器，不是决策替代品。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CBD5E5"/>
                </a:solidFill>
                <a:latin typeface="Microsoft YaHei"/>
                <a:ea typeface="Microsoft YaHei"/>
              </a:rPr>
              <a:t>我把它放在重复劳动与上下文切换最多的地方。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5349240" cy="1554480"/>
          </a:xfrm>
          <a:prstGeom prst="rect">
            <a:avLst/>
          </a:prstGeom>
          <a:solidFill>
            <a:srgbClr val="142240"/>
          </a:solidFill>
          <a:ln w="12700">
            <a:solidFill>
              <a:srgbClr val="C48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26079"/>
            <a:ext cx="4983479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2200" b="1">
                <a:solidFill>
                  <a:srgbClr val="C482E8"/>
                </a:solidFill>
                <a:latin typeface="Microsoft YaHei"/>
                <a:ea typeface="Microsoft YaHei"/>
              </a:rPr>
              <a:t>脚本与代码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1">
                <a:solidFill>
                  <a:srgbClr val="C482E8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样板代码、参数解析、异常分支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1">
                <a:solidFill>
                  <a:srgbClr val="C482E8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快速出第一版，再人工改造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788920"/>
            <a:ext cx="5349240" cy="1554480"/>
          </a:xfrm>
          <a:prstGeom prst="rect">
            <a:avLst/>
          </a:prstGeom>
          <a:solidFill>
            <a:srgbClr val="142240"/>
          </a:solidFill>
          <a:ln w="12700">
            <a:solidFill>
              <a:srgbClr val="C48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79"/>
            <a:ext cx="4983479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2200" b="1">
                <a:solidFill>
                  <a:srgbClr val="C482E8"/>
                </a:solidFill>
                <a:latin typeface="Microsoft YaHei"/>
                <a:ea typeface="Microsoft YaHei"/>
              </a:rPr>
              <a:t>文档与汇报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1">
                <a:solidFill>
                  <a:srgbClr val="C482E8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周报草稿、复盘结构、表达润色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1">
                <a:solidFill>
                  <a:srgbClr val="C482E8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关键事实仍以我自己的笔记为准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26279"/>
            <a:ext cx="10972800" cy="1828800"/>
          </a:xfrm>
          <a:prstGeom prst="rect">
            <a:avLst/>
          </a:prstGeom>
          <a:solidFill>
            <a:srgbClr val="142240"/>
          </a:solidFill>
          <a:ln w="12700">
            <a:solidFill>
              <a:srgbClr val="C48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63440"/>
            <a:ext cx="106070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2200" b="1">
                <a:solidFill>
                  <a:srgbClr val="C482E8"/>
                </a:solidFill>
                <a:latin typeface="Microsoft YaHei"/>
                <a:ea typeface="Microsoft YaHei"/>
              </a:rPr>
              <a:t>思路与对比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800" b="1">
                <a:solidFill>
                  <a:srgbClr val="C482E8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在排查复杂问题时，让 AI 列多种切入角度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1">
                <a:solidFill>
                  <a:srgbClr val="C482E8"/>
                </a:solidFill>
                <a:latin typeface="Microsoft YaHei"/>
                <a:ea typeface="Microsoft YaHei"/>
              </a:rPr>
              <a:t>▍  </a:t>
            </a:r>
            <a:r>
              <a:rPr sz="1900" b="1">
                <a:solidFill>
                  <a:srgbClr val="F5F8FF"/>
                </a:solidFill>
                <a:latin typeface="Microsoft YaHei"/>
                <a:ea typeface="Microsoft YaHei"/>
              </a:rPr>
              <a:t>我再筛选并亲自动手验证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Microsoft YaHei"/>
                <a:ea typeface="Microsoft YaHei"/>
              </a:rPr>
              <a:t>固定收益部 · 数据库性能优化实践 ·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4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482E8"/>
                </a:solidFill>
                <a:latin typeface="Consolas"/>
                <a:ea typeface="Consolas"/>
              </a:rPr>
              <a:t>PART 04  ·  PAGE 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C482E8"/>
                </a:solidFill>
                <a:latin typeface="Microsoft YaHei"/>
                <a:ea typeface="Microsoft YaHei"/>
              </a:rPr>
              <a:t>PART 4 / 5  ·  16 P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8A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658368"/>
            <a:ext cx="1463040" cy="36576"/>
          </a:xfrm>
          <a:prstGeom prst="rect">
            <a:avLst/>
          </a:prstGeom>
          <a:solidFill>
            <a:srgbClr val="C48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5F8FF"/>
                </a:solidFill>
                <a:latin typeface="Microsoft YaHei"/>
                <a:ea typeface="Microsoft YaHei"/>
              </a:rPr>
              <a:t>使用边界与体会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1627632"/>
            <a:ext cx="1463040" cy="0"/>
          </a:xfrm>
          <a:prstGeom prst="line">
            <a:avLst/>
          </a:prstGeom>
          <a:ln w="38100">
            <a:solidFill>
              <a:srgbClr val="C48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20" y="1874519"/>
            <a:ext cx="5349240" cy="4297680"/>
          </a:xfrm>
          <a:prstGeom prst="rect">
            <a:avLst/>
          </a:prstGeom>
          <a:solidFill>
            <a:srgbClr val="142240"/>
          </a:solidFill>
          <a:ln w="12700">
            <a:solidFill>
              <a:srgbClr val="C48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11679"/>
            <a:ext cx="4983479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1">
                <a:solidFill>
                  <a:srgbClr val="C482E8"/>
                </a:solidFill>
                <a:latin typeface="Microsoft YaHei"/>
                <a:ea typeface="Microsoft YaHei"/>
              </a:rPr>
              <a:t>我用得顺的场景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C482E8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脚本脚手架、参数模板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C482E8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周报与复盘的结构化表达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C482E8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把同一份事实改写成不同读者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C482E8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复杂问题的多角度切入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874519"/>
            <a:ext cx="5349240" cy="4297680"/>
          </a:xfrm>
          <a:prstGeom prst="rect">
            <a:avLst/>
          </a:prstGeom>
          <a:solidFill>
            <a:srgbClr val="142240"/>
          </a:solidFill>
          <a:ln w="12700">
            <a:solidFill>
              <a:srgbClr val="C48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79"/>
            <a:ext cx="4983479" cy="4114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1">
                <a:solidFill>
                  <a:srgbClr val="C482E8"/>
                </a:solidFill>
                <a:latin typeface="Microsoft YaHei"/>
                <a:ea typeface="Microsoft YaHei"/>
              </a:rPr>
              <a:t>我不放心交给 AI 的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C482E8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业务口径与数据范围的最终判断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C482E8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性能数字、生产影响、上线策略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C482E8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账务一致性的最终结论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C482E8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对客户、对外部的承诺性表述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Microsoft YaHei"/>
                <a:ea typeface="Microsoft YaHei"/>
              </a:rPr>
              <a:t>固定收益部 · 数据库性能优化实践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5_di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F57A90"/>
                </a:solidFill>
                <a:latin typeface="Microsoft YaHei"/>
                <a:ea typeface="Microsoft YaHei"/>
              </a:rPr>
              <a:t>PART 5 / 5  ·  16 P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8A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F5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57A90"/>
                </a:solidFill>
                <a:latin typeface="Consolas"/>
                <a:ea typeface="Consolas"/>
              </a:rPr>
              <a:t>PART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97280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>
                <a:solidFill>
                  <a:srgbClr val="F5F8FF"/>
                </a:solidFill>
                <a:latin typeface="Microsoft YaHei"/>
                <a:ea typeface="Microsoft YaHei"/>
              </a:rPr>
              <a:t>实习整体复盘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CBD5E5"/>
                </a:solidFill>
                <a:latin typeface="Consolas"/>
                <a:ea typeface="Consolas"/>
              </a:rPr>
              <a:t>Internship Review  ·  收获 · 成长 · 待提升方向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663440"/>
            <a:ext cx="2926080" cy="0"/>
          </a:xfrm>
          <a:prstGeom prst="line">
            <a:avLst/>
          </a:prstGeom>
          <a:ln w="38100">
            <a:solidFill>
              <a:srgbClr val="F57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Microsoft YaHei"/>
                <a:ea typeface="Microsoft YaHei"/>
              </a:rPr>
              <a:t>固定收益部 · 数据库性能优化实践 ·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5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57A90"/>
                </a:solidFill>
                <a:latin typeface="Consolas"/>
                <a:ea typeface="Consolas"/>
              </a:rPr>
              <a:t>PART 05  ·  PAGE 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F57A90"/>
                </a:solidFill>
                <a:latin typeface="Microsoft YaHei"/>
                <a:ea typeface="Microsoft YaHei"/>
              </a:rPr>
              <a:t>PART 5 / 5  ·  16 P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8A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F5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5F8FF"/>
                </a:solidFill>
                <a:latin typeface="Microsoft YaHei"/>
                <a:ea typeface="Microsoft YaHei"/>
              </a:rPr>
              <a:t>三个月的实习收获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1627632"/>
            <a:ext cx="1463040" cy="0"/>
          </a:xfrm>
          <a:prstGeom prst="line">
            <a:avLst/>
          </a:prstGeom>
          <a:ln w="38100">
            <a:solidFill>
              <a:srgbClr val="F57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874519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>
                <a:solidFill>
                  <a:srgbClr val="F5F8FF"/>
                </a:solidFill>
                <a:latin typeface="Microsoft YaHei"/>
                <a:ea typeface="Microsoft YaHei"/>
              </a:rPr>
              <a:t>把零散的脚本经验，沉淀成一套能跨场景复用的工程方法。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3520440" cy="3474720"/>
          </a:xfrm>
          <a:prstGeom prst="rect">
            <a:avLst/>
          </a:prstGeom>
          <a:solidFill>
            <a:srgbClr val="142240"/>
          </a:solidFill>
          <a:ln w="12700">
            <a:solidFill>
              <a:srgbClr val="F5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26079"/>
            <a:ext cx="3154680" cy="3291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1">
                <a:solidFill>
                  <a:srgbClr val="F57A90"/>
                </a:solidFill>
                <a:latin typeface="Microsoft YaHei"/>
                <a:ea typeface="Microsoft YaHei"/>
              </a:rPr>
              <a:t>方法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7A90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从基线到结论的完整链路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7A90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以 P95 而非均值做判断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F57A90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结果先于性能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788920"/>
            <a:ext cx="3520440" cy="3474720"/>
          </a:xfrm>
          <a:prstGeom prst="rect">
            <a:avLst/>
          </a:prstGeom>
          <a:solidFill>
            <a:srgbClr val="142240"/>
          </a:solidFill>
          <a:ln w="12700">
            <a:solidFill>
              <a:srgbClr val="F5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926079"/>
            <a:ext cx="3154680" cy="3291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1">
                <a:solidFill>
                  <a:srgbClr val="F57A90"/>
                </a:solidFill>
                <a:latin typeface="Microsoft YaHei"/>
                <a:ea typeface="Microsoft YaHei"/>
              </a:rPr>
              <a:t>能力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7A90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独立设计可复用的脚本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7A90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在团队中把结论讲清楚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F57A90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把过程沉淀为可交接的产出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788920"/>
            <a:ext cx="3520440" cy="3474720"/>
          </a:xfrm>
          <a:prstGeom prst="rect">
            <a:avLst/>
          </a:prstGeom>
          <a:solidFill>
            <a:srgbClr val="142240"/>
          </a:solidFill>
          <a:ln w="12700">
            <a:solidFill>
              <a:srgbClr val="F5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926079"/>
            <a:ext cx="3154680" cy="3291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1">
                <a:solidFill>
                  <a:srgbClr val="F57A90"/>
                </a:solidFill>
                <a:latin typeface="Microsoft YaHei"/>
                <a:ea typeface="Microsoft YaHei"/>
              </a:rPr>
              <a:t>态度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7A90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把每一个数字写到能 review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7A90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承认不知道的，比假装知道重要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F57A90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复盘比结论本身更有价值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Microsoft YaHei"/>
                <a:ea typeface="Microsoft YaHei"/>
              </a:rPr>
              <a:t>固定收益部 · 数据库性能优化实践 ·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5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57A90"/>
                </a:solidFill>
                <a:latin typeface="Consolas"/>
                <a:ea typeface="Consolas"/>
              </a:rPr>
              <a:t>PART 05  ·  PAGE 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>
                <a:solidFill>
                  <a:srgbClr val="F57A90"/>
                </a:solidFill>
                <a:latin typeface="Microsoft YaHei"/>
                <a:ea typeface="Microsoft YaHei"/>
              </a:rPr>
              <a:t>PART 5 / 5  ·  16 P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8A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05695" y="658368"/>
            <a:ext cx="1828800" cy="36576"/>
          </a:xfrm>
          <a:prstGeom prst="rect">
            <a:avLst/>
          </a:prstGeom>
          <a:solidFill>
            <a:srgbClr val="F5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31520"/>
            <a:ext cx="1051560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F5F8FF"/>
                </a:solidFill>
                <a:latin typeface="Microsoft YaHei"/>
                <a:ea typeface="Microsoft YaHei"/>
              </a:rPr>
              <a:t>待提升方向与相关思考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1627632"/>
            <a:ext cx="1463040" cy="0"/>
          </a:xfrm>
          <a:prstGeom prst="line">
            <a:avLst/>
          </a:prstGeom>
          <a:ln w="38100">
            <a:solidFill>
              <a:srgbClr val="F57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874519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2200" b="0">
                <a:solidFill>
                  <a:srgbClr val="F5F8FF"/>
                </a:solidFill>
                <a:latin typeface="Microsoft YaHei"/>
                <a:ea typeface="Microsoft YaHei"/>
              </a:rPr>
              <a:t>知道边界在哪，比已经会什么更重要。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CBD5E5"/>
                </a:solidFill>
                <a:latin typeface="Microsoft YaHei"/>
                <a:ea typeface="Microsoft YaHei"/>
              </a:rPr>
              <a:t>以下是我给自己列的下一阶段方向。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5349240" cy="3474720"/>
          </a:xfrm>
          <a:prstGeom prst="rect">
            <a:avLst/>
          </a:prstGeom>
          <a:solidFill>
            <a:srgbClr val="142240"/>
          </a:solidFill>
          <a:ln w="12700">
            <a:solidFill>
              <a:srgbClr val="F5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26079"/>
            <a:ext cx="4983479" cy="3291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1">
                <a:solidFill>
                  <a:srgbClr val="F57A90"/>
                </a:solidFill>
                <a:latin typeface="Microsoft YaHei"/>
                <a:ea typeface="Microsoft YaHei"/>
              </a:rPr>
              <a:t>技术深度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7A90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更系统地吃透执行计划与锁机制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7A90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在更真实的数据分布下做稳定性压测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F57A90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把 AWR / SQL Trace 等工具串成日常工作流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788920"/>
            <a:ext cx="5349240" cy="3474720"/>
          </a:xfrm>
          <a:prstGeom prst="rect">
            <a:avLst/>
          </a:prstGeom>
          <a:solidFill>
            <a:srgbClr val="142240"/>
          </a:solidFill>
          <a:ln w="12700">
            <a:solidFill>
              <a:srgbClr val="F5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79"/>
            <a:ext cx="4983479" cy="329183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1">
                <a:solidFill>
                  <a:srgbClr val="F57A90"/>
                </a:solidFill>
                <a:latin typeface="Microsoft YaHei"/>
                <a:ea typeface="Microsoft YaHei"/>
              </a:rPr>
              <a:t>工程与协作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7A90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把脚本沉淀为团队长期维护的工具</a:t>
            </a:r>
          </a:p>
          <a:p>
            <a:pPr algn="l">
              <a:lnSpc>
                <a:spcPct val="155000"/>
              </a:lnSpc>
              <a:spcAft>
                <a:spcPts val="800"/>
              </a:spcAft>
            </a:pPr>
            <a:r>
              <a:rPr sz="1800" b="1">
                <a:solidFill>
                  <a:srgbClr val="F57A90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补齐生产灰度监控与回归基线</a:t>
            </a:r>
          </a:p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800" b="1">
                <a:solidFill>
                  <a:srgbClr val="F57A90"/>
                </a:solidFill>
                <a:latin typeface="Microsoft YaHei"/>
                <a:ea typeface="Microsoft YaHei"/>
              </a:rPr>
              <a:t>▍  </a:t>
            </a:r>
            <a:r>
              <a:rPr sz="1800" b="0">
                <a:solidFill>
                  <a:srgbClr val="CBD5E5"/>
                </a:solidFill>
                <a:latin typeface="Microsoft YaHei"/>
                <a:ea typeface="Microsoft YaHei"/>
              </a:rPr>
              <a:t>在跨角色协作中保持节奏感与边界感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37960"/>
            <a:ext cx="4114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8A9AB5"/>
                </a:solidFill>
                <a:latin typeface="Microsoft YaHei"/>
                <a:ea typeface="Microsoft YaHei"/>
              </a:rPr>
              <a:t>固定收益部 · 数据库性能优化实践 ·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9_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00C8E0"/>
                </a:solidFill>
                <a:latin typeface="Consolas"/>
                <a:ea typeface="Consolas"/>
              </a:rPr>
              <a:t>THANKS FOR LISTENING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972800" cy="12801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F5F8FF"/>
                </a:solidFill>
                <a:latin typeface="Microsoft YaHei"/>
                <a:ea typeface="Microsoft YaHei"/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97280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CBD5E5"/>
                </a:solidFill>
                <a:latin typeface="Microsoft YaHei"/>
                <a:ea typeface="Microsoft YaHei"/>
              </a:rPr>
              <a:t>Q &amp; A  ·  欢迎各位老师与同学指正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0" y="5212080"/>
            <a:ext cx="2103120" cy="0"/>
          </a:xfrm>
          <a:prstGeom prst="line">
            <a:avLst/>
          </a:prstGeom>
          <a:ln w="25400">
            <a:solidFill>
              <a:srgbClr val="00C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8A9AB5"/>
                </a:solidFill>
                <a:latin typeface="Consolas"/>
                <a:ea typeface="Consolas"/>
              </a:rPr>
              <a:t>固定收益部 · 数据库性能优化实践  ·  李颜铭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